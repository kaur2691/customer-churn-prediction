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Roboto Condensed"/>
      <p:regular r:id="rId20"/>
      <p:bold r:id="rId21"/>
      <p:italic r:id="rId22"/>
      <p:boldItalic r:id="rId23"/>
    </p:embeddedFont>
    <p:embeddedFont>
      <p:font typeface="Average"/>
      <p:regular r:id="rId24"/>
    </p:embeddedFont>
    <p:embeddedFont>
      <p:font typeface="Noto Sans Symbols"/>
      <p:regular r:id="rId25"/>
      <p:bold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eAQuk9uE/MpE2zXFfAEqwtEcq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regular.fntdata"/><Relationship Id="rId22" Type="http://schemas.openxmlformats.org/officeDocument/2006/relationships/font" Target="fonts/RobotoCondensed-italic.fntdata"/><Relationship Id="rId21" Type="http://schemas.openxmlformats.org/officeDocument/2006/relationships/font" Target="fonts/RobotoCondensed-bold.fntdata"/><Relationship Id="rId24" Type="http://schemas.openxmlformats.org/officeDocument/2006/relationships/font" Target="fonts/Average-regular.fntdata"/><Relationship Id="rId23" Type="http://schemas.openxmlformats.org/officeDocument/2006/relationships/font" Target="fonts/RobotoCondense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Symbols-bold.fntdata"/><Relationship Id="rId25" Type="http://schemas.openxmlformats.org/officeDocument/2006/relationships/font" Target="fonts/NotoSansSymbols-regular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3bdfa980_0_35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a3bdfa980_0_3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9a3bdfa980_0_349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g39a3bdfa980_0_349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9a3bdfa980_0_349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a3bdfa980_0_349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9a3bdfa980_0_349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9a3bdfa980_0_349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9a3bdfa980_0_349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a3bdfa980_0_350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9a3bdfa980_0_350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a3bdfa980_0_35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9a3bdfa980_0_35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9a3bdfa980_0_350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a3bdfa980_0_35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9a3bdfa980_0_350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9a3bdfa980_0_350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9a3bdfa980_0_350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a3bdfa980_0_35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9a3bdfa980_0_35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a3bdfa980_0_35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9a3bdfa980_0_35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9a3bdfa980_0_35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a3bdfa980_0_3519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9a3bdfa980_0_35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a3bdfa980_0_352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9a3bdfa980_0_35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9a3bdfa980_0_3522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9a3bdfa980_0_3522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9a3bdfa980_0_35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9a3bdfa980_0_35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a3bdfa980_0_35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9a3bdfa980_0_35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a3bdfa980_0_3532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39a3bdfa980_0_3532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9a3bdfa980_0_353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a3bdfa980_0_353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a3bdfa980_0_3538"/>
          <p:cNvSpPr/>
          <p:nvPr/>
        </p:nvSpPr>
        <p:spPr>
          <a:xfrm>
            <a:off x="4143960" y="228600"/>
            <a:ext cx="4771200" cy="45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" name="Google Shape;57;g39a3bdfa980_0_3538"/>
          <p:cNvSpPr txBox="1"/>
          <p:nvPr>
            <p:ph type="title"/>
          </p:nvPr>
        </p:nvSpPr>
        <p:spPr>
          <a:xfrm>
            <a:off x="115200" y="215640"/>
            <a:ext cx="3767400" cy="24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g39a3bdfa980_0_3538"/>
          <p:cNvSpPr txBox="1"/>
          <p:nvPr>
            <p:ph idx="1" type="body"/>
          </p:nvPr>
        </p:nvSpPr>
        <p:spPr>
          <a:xfrm>
            <a:off x="4448520" y="419760"/>
            <a:ext cx="4162200" cy="4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BLANK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a3bdfa980_0_3542"/>
          <p:cNvSpPr txBox="1"/>
          <p:nvPr>
            <p:ph type="title"/>
          </p:nvPr>
        </p:nvSpPr>
        <p:spPr>
          <a:xfrm>
            <a:off x="228600" y="4342320"/>
            <a:ext cx="6219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g39a3bdfa980_0_3542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_1">
  <p:cSld name="CUSTOM_10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a3bdfa980_0_3545"/>
          <p:cNvSpPr txBox="1"/>
          <p:nvPr>
            <p:ph type="title"/>
          </p:nvPr>
        </p:nvSpPr>
        <p:spPr>
          <a:xfrm>
            <a:off x="228600" y="204480"/>
            <a:ext cx="55986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g39a3bdfa980_0_3545"/>
          <p:cNvSpPr txBox="1"/>
          <p:nvPr>
            <p:ph idx="1" type="body"/>
          </p:nvPr>
        </p:nvSpPr>
        <p:spPr>
          <a:xfrm>
            <a:off x="6014880" y="-12960"/>
            <a:ext cx="3128700" cy="51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a3bdfa980_0_3548"/>
          <p:cNvSpPr txBox="1"/>
          <p:nvPr>
            <p:ph type="title"/>
          </p:nvPr>
        </p:nvSpPr>
        <p:spPr>
          <a:xfrm>
            <a:off x="228600" y="255240"/>
            <a:ext cx="26553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g39a3bdfa980_0_3548"/>
          <p:cNvSpPr/>
          <p:nvPr/>
        </p:nvSpPr>
        <p:spPr>
          <a:xfrm>
            <a:off x="6045840" y="498960"/>
            <a:ext cx="28194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-US" sz="1000" u="sng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and includes icons, infographics &amp; images by </a:t>
            </a:r>
            <a:r>
              <a:rPr b="1" lang="en-US" sz="1000" u="sng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sz="1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3bdfa980_0_34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9a3bdfa980_0_34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9a3bdfa980_0_348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title"/>
          </p:nvPr>
        </p:nvSpPr>
        <p:spPr>
          <a:xfrm>
            <a:off x="114480" y="219240"/>
            <a:ext cx="377172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Condensed"/>
              <a:buNone/>
            </a:pPr>
            <a:r>
              <a:rPr b="0" i="1" lang="en-US" sz="4500" u="none" strike="noStrike">
                <a:solidFill>
                  <a:srgbClr val="EC407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endParaRPr i="1" sz="4500">
              <a:solidFill>
                <a:srgbClr val="EC407A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Condensed"/>
              <a:buNone/>
            </a:pPr>
            <a:r>
              <a:rPr i="1" lang="en-US" sz="4500">
                <a:solidFill>
                  <a:srgbClr val="EC407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Churn</a:t>
            </a:r>
            <a:r>
              <a:rPr b="0" i="1" lang="en-US" sz="4500" u="none" strike="noStrike">
                <a:solidFill>
                  <a:srgbClr val="EC407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Prediction</a:t>
            </a:r>
            <a:endParaRPr b="0" sz="4500" u="none" strike="noStrike">
              <a:solidFill>
                <a:srgbClr val="EC40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"/>
          <p:cNvCxnSpPr/>
          <p:nvPr/>
        </p:nvCxnSpPr>
        <p:spPr>
          <a:xfrm>
            <a:off x="-24120" y="4914720"/>
            <a:ext cx="9284040" cy="360"/>
          </a:xfrm>
          <a:prstGeom prst="straightConnector1">
            <a:avLst/>
          </a:prstGeom>
          <a:noFill/>
          <a:ln cap="flat" cmpd="sng" w="9525">
            <a:solidFill>
              <a:srgbClr val="AAA9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"/>
          <p:cNvSpPr/>
          <p:nvPr/>
        </p:nvSpPr>
        <p:spPr>
          <a:xfrm rot="-5400000">
            <a:off x="-780840" y="3543480"/>
            <a:ext cx="2152440" cy="22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5" name="Google Shape;75;p1"/>
          <p:cNvSpPr txBox="1"/>
          <p:nvPr>
            <p:ph idx="1" type="body"/>
          </p:nvPr>
        </p:nvSpPr>
        <p:spPr>
          <a:xfrm>
            <a:off x="181250" y="3348625"/>
            <a:ext cx="37716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Submitted  By    :  Parveen Kaur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Registration No :  12200525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Submitted  To    :  Dr.Ridhi Kapoor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725" y="152400"/>
            <a:ext cx="5438200" cy="46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121425" y="97325"/>
            <a:ext cx="62193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>
                <a:solidFill>
                  <a:schemeClr val="accent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Introduction</a:t>
            </a:r>
            <a:endParaRPr b="1" i="1" sz="3000" u="sng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2"/>
          <p:cNvCxnSpPr/>
          <p:nvPr/>
        </p:nvCxnSpPr>
        <p:spPr>
          <a:xfrm>
            <a:off x="-419630" y="972660"/>
            <a:ext cx="9402900" cy="510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25" y="820925"/>
            <a:ext cx="4205875" cy="39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/>
        </p:nvSpPr>
        <p:spPr>
          <a:xfrm>
            <a:off x="4607775" y="820925"/>
            <a:ext cx="43755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Customer Churn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Data Insights</a:t>
            </a:r>
            <a:b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rgbClr val="E6B8A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Retention Strategy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Proactive Actions</a:t>
            </a:r>
            <a:b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Revenue Boost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Advanced Tech</a:t>
            </a:r>
            <a:b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Behavior Analysis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ML Models</a:t>
            </a:r>
            <a:b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Churn Patterns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Churn Reduction</a:t>
            </a:r>
            <a:b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Predictive Analytics – </a:t>
            </a:r>
            <a: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  <a:t>Business Growth</a:t>
            </a:r>
            <a:br>
              <a:rPr lang="en-US" sz="1800">
                <a:solidFill>
                  <a:srgbClr val="E6B8AF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800">
              <a:solidFill>
                <a:srgbClr val="E6B8A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215200" y="79602"/>
            <a:ext cx="56004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 strike="noStrike">
                <a:solidFill>
                  <a:srgbClr val="00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Churn Prediction Techniques</a:t>
            </a:r>
            <a:endParaRPr b="1" i="1" sz="3000" u="sng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3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 b="0" l="32990" r="32995" t="0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174125" y="910825"/>
            <a:ext cx="5600400" cy="42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Logistic Regression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Decision Trees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Random Forest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Gradient Boosting (XGBoost, LightGBM,CatBoost)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Support Vector Machines (SVM)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Neural Networks (ANN, Deep Learning)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k-Nearest Neighbors (KNN)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Time-Series Churn Modeling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Char char="●"/>
            </a:pPr>
            <a:r>
              <a:rPr lang="en-US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Ensemble Models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>
            <p:ph type="title"/>
          </p:nvPr>
        </p:nvSpPr>
        <p:spPr>
          <a:xfrm>
            <a:off x="2827125" y="124125"/>
            <a:ext cx="62193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>
                <a:solidFill>
                  <a:srgbClr val="93C4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Collection &amp; Feature Engineering</a:t>
            </a:r>
            <a:endParaRPr b="1" i="1" sz="3000" u="sng">
              <a:solidFill>
                <a:srgbClr val="93C47D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 txBox="1"/>
          <p:nvPr/>
        </p:nvSpPr>
        <p:spPr>
          <a:xfrm>
            <a:off x="267900" y="830450"/>
            <a:ext cx="57330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C407A"/>
                </a:solidFill>
              </a:rPr>
              <a:t>Data Collection</a:t>
            </a:r>
            <a:r>
              <a:rPr b="1" lang="en-U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Gather customer demographic data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Collect service usage details (calls, data, subscriptions)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Capture billing &amp; payment history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Track customer complaints and support interactions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Extract contract details (plan type, tenure, add-ons)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Include churn labels (churned vs. active)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675" y="1044775"/>
            <a:ext cx="3353750" cy="36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9a3bdfa980_0_35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 strike="noStrike">
                <a:solidFill>
                  <a:srgbClr val="93C47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Machine Learning Models for Churn Prediction</a:t>
            </a:r>
            <a:endParaRPr b="1" i="1" sz="3000" u="sng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32990" r="32995" t="0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28663" y="1366925"/>
            <a:ext cx="56004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Logistic Regression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Simple, interpretable baseline model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Decision Trees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Easy to visualize and understand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Random Forest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Handles complex patterns, reduces overfitting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Gradient Boosting (XGBoost, LightGBM, CatBoost)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High accuracy, strong for tabular data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Support Vector Machines (SVM)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Effective for high-dimensional data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k-Nearest Neighbors (KNN)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Instance-based learning for small datasets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Neural Networks (ANNs)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Captures non-linear relationships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Naive Bayes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Fast and works well with categorical features</a:t>
            </a:r>
            <a:b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C407A"/>
                </a:solidFill>
                <a:highlight>
                  <a:schemeClr val="lt1"/>
                </a:highlight>
              </a:rPr>
              <a:t>Ensemble Models</a:t>
            </a:r>
            <a:r>
              <a:rPr lang="en-US" sz="1300">
                <a:solidFill>
                  <a:schemeClr val="dk1"/>
                </a:solidFill>
                <a:highlight>
                  <a:schemeClr val="lt1"/>
                </a:highlight>
              </a:rPr>
              <a:t> – Combines multiple models for better performance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1219800" y="137525"/>
            <a:ext cx="62193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>
                <a:solidFill>
                  <a:srgbClr val="E6913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Evaluation Metrics</a:t>
            </a:r>
            <a:endParaRPr b="1" i="1" sz="3000" u="sng" strike="noStrik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6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0" name="Google Shape;12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75" y="1192125"/>
            <a:ext cx="7675050" cy="37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b="1" i="1" lang="en-US" sz="3000" u="sng" strike="noStrike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Technologies and Tools for Churn Prediction</a:t>
            </a:r>
            <a:endParaRPr b="1" i="1" sz="3000" u="sng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32990" r="32995" t="0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 txBox="1"/>
          <p:nvPr/>
        </p:nvSpPr>
        <p:spPr>
          <a:xfrm>
            <a:off x="228600" y="1285875"/>
            <a:ext cx="3128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🐍 Python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🧮 NumPy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🐼 Pandas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🤖 Scikit-Learn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⚡ XGBoost / LightGBM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📊 Matplotlib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📉 Seaborn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📓 Jupyter Notebook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228600" y="200153"/>
            <a:ext cx="5600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b="1" i="1" lang="en-US" sz="3000" u="sng">
                <a:solidFill>
                  <a:srgbClr val="EC407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Code Implementation </a:t>
            </a:r>
            <a:endParaRPr b="1" i="1" sz="3000" u="sng" strike="noStrike">
              <a:solidFill>
                <a:srgbClr val="EC40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32990" r="32995" t="0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0700" y="2000250"/>
            <a:ext cx="6477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50" y="1111750"/>
            <a:ext cx="5600400" cy="37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/>
          <p:nvPr/>
        </p:nvSpPr>
        <p:spPr>
          <a:xfrm>
            <a:off x="147350" y="1111750"/>
            <a:ext cx="5531700" cy="3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sklearn.metrics </a:t>
            </a:r>
            <a:r>
              <a:rPr lang="en-US" sz="1450" u="sng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roc_curve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y_rfpred_prob = model_rf.predict_proba(X_test)[:,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fpr_rf, tpr_rf, thresholds = roc_curve(y_test, y_rfpred_prob)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plt.plot([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'k--'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plt.plot(fpr_rf, tpr_rf, </a:t>
            </a:r>
            <a:r>
              <a:rPr lang="en-US" sz="1450" u="sng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'Random Forest'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50" u="sng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plt.xlabel(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'False Positive Rate'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plt.ylabel(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'True Positive Rate'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-US" sz="1450" u="sng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'Random Forest ROC Curve'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450" u="sng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fontsize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450" u="sng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 u="sng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r>
              <a:rPr lang="en-US" sz="1450" u="sng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50" u="sng">
              <a:solidFill>
                <a:srgbClr val="F44747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0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3" name="Google Shape;14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50" y="80375"/>
            <a:ext cx="8920750" cy="4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11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noFill/>
          <a:ln cap="flat" cmpd="sng" w="9525">
            <a:solidFill>
              <a:srgbClr val="02060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9" name="Google Shape;14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8482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2025-12-01T10:29:54Z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